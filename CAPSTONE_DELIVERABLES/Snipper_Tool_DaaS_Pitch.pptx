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 snapToObjects="1">
      <p:cViewPr>
        <p:scale>
          <a:sx n="142" d="100"/>
          <a:sy n="142" d="100"/>
        </p:scale>
        <p:origin x="750" y="-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Snipper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F81BD"/>
                </a:solidFill>
              </a:defRPr>
            </a:pPr>
            <a:r>
              <a:t>Data-as-a-Service Platform</a:t>
            </a:r>
            <a:br/>
            <a:r>
              <a:t>Market Intelligence &amp; Pricing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The Market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  <a:defRPr sz="2400">
                <a:solidFill>
                  <a:srgbClr val="333333"/>
                </a:solidFill>
              </a:defRPr>
            </a:pPr>
            <a:r>
              <a:rPr sz="2800" b="1" dirty="0"/>
              <a:t>Market research is SLOW</a:t>
            </a:r>
            <a:r>
              <a:rPr dirty="0"/>
              <a:t>: Manual data collection takes 15-20 hours per dataset</a:t>
            </a:r>
          </a:p>
          <a:p>
            <a:pPr marL="457200" indent="-457200"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  <a:defRPr sz="2400">
                <a:solidFill>
                  <a:srgbClr val="333333"/>
                </a:solidFill>
              </a:defRPr>
            </a:pPr>
            <a:r>
              <a:rPr sz="2800" b="1" dirty="0"/>
              <a:t>Web scraping is RISKY</a:t>
            </a:r>
            <a:r>
              <a:rPr dirty="0"/>
              <a:t>: Blocked by anti-bot measures, legal/GDPR concerns</a:t>
            </a:r>
          </a:p>
          <a:p>
            <a:pPr marL="457200" indent="-457200"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  <a:defRPr sz="2400">
                <a:solidFill>
                  <a:srgbClr val="333333"/>
                </a:solidFill>
              </a:defRPr>
            </a:pPr>
            <a:r>
              <a:rPr sz="2800" b="1" dirty="0"/>
              <a:t>Market data is EXPENSIVE</a:t>
            </a:r>
            <a:r>
              <a:rPr dirty="0"/>
              <a:t>: Analyst fees + licensing costs €500-1,000+ per month</a:t>
            </a:r>
          </a:p>
          <a:p>
            <a:pPr marL="457200" indent="-457200"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  <a:defRPr sz="2400">
                <a:solidFill>
                  <a:srgbClr val="333333"/>
                </a:solidFill>
              </a:defRPr>
            </a:pPr>
            <a:r>
              <a:rPr sz="2800" b="1" dirty="0"/>
              <a:t>Data is STALE:</a:t>
            </a:r>
            <a:r>
              <a:rPr dirty="0"/>
              <a:t> By the time insights arrive, markets have moved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sz="2800" dirty="0"/>
              <a:t>SOLUTION: Semi-automatic visual intelligence - fast, accurate, legal &amp; scalable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52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rPr dirty="0"/>
              <a:t>How Snipper Tool Works: 3-Step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4" y="1325880"/>
            <a:ext cx="8302752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  <a:defRPr sz="2400">
                <a:solidFill>
                  <a:srgbClr val="333333"/>
                </a:solidFill>
              </a:defRPr>
            </a:pPr>
            <a:r>
              <a:rPr sz="2800" b="1" dirty="0"/>
              <a:t>CAPTURE:</a:t>
            </a:r>
            <a:r>
              <a:rPr dirty="0"/>
              <a:t> User takes screenshot with smart overlay (</a:t>
            </a:r>
            <a:r>
              <a:rPr dirty="0" err="1"/>
              <a:t>Alt+C</a:t>
            </a:r>
            <a:r>
              <a:rPr dirty="0"/>
              <a:t> hotkey)</a:t>
            </a:r>
          </a:p>
          <a:p>
            <a:pPr marL="457200" indent="-457200"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  <a:defRPr sz="2400">
                <a:solidFill>
                  <a:srgbClr val="333333"/>
                </a:solidFill>
              </a:defRPr>
            </a:pPr>
            <a:r>
              <a:rPr sz="2800" b="1" dirty="0"/>
              <a:t>DETECT:</a:t>
            </a:r>
            <a:r>
              <a:rPr dirty="0"/>
              <a:t> AI-powered OCR automatically extracts prices &amp; product data</a:t>
            </a:r>
          </a:p>
          <a:p>
            <a:pPr marL="457200" indent="-457200"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  <a:defRPr sz="2400">
                <a:solidFill>
                  <a:srgbClr val="333333"/>
                </a:solidFill>
              </a:defRPr>
            </a:pPr>
            <a:r>
              <a:rPr sz="2800" b="1" dirty="0"/>
              <a:t>ANALYZE:</a:t>
            </a:r>
            <a:r>
              <a:rPr dirty="0"/>
              <a:t> Data exported as structured JSON for immediate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TIME: 40 seconds per product vs 2 minutes manual (5x faster)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ACCURACY: 100% validated data ready for analytics &amp;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9844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Financial Case: Supermarket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1362456"/>
            <a:ext cx="853135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Weekly Collection: </a:t>
            </a:r>
            <a:endParaRPr lang="en-US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500 products across 5 stores (€146.74/week = €7,630/year)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Manual Alternative: </a:t>
            </a:r>
            <a:endParaRPr lang="en-US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Would cost €45,500/year (€875/week)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ANNUAL SAVINGS: </a:t>
            </a:r>
            <a:endParaRPr lang="en-US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€37,870 per customer (83% cost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YOUR REVENUE: </a:t>
            </a:r>
            <a:endParaRPr lang="en-US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Sell for €200-400/month = €2,400-4,800/year per customer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Gross margin: </a:t>
            </a:r>
            <a:endParaRPr lang="en-US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68-84% (You get €1,600-3,000 of the €7,630 savings)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3-Stream 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1097280"/>
            <a:ext cx="828446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Stream 1: SaaS Subscriptions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lang="fr-FR" dirty="0"/>
              <a:t>€</a:t>
            </a:r>
            <a:r>
              <a:rPr dirty="0"/>
              <a:t>50-200/month: Solo analyst (1 store, 100 products/week)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€200-500/month: Enterprise tier (5+ stores, 1000+ products/week)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Stream 2: </a:t>
            </a:r>
            <a:endParaRPr lang="en-US" dirty="0"/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Data Licensing - €500-5,000/month for aggregated datasets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Stream 3:</a:t>
            </a:r>
            <a:endParaRPr lang="en-US" dirty="0"/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Consulting - €5,000-50,000 for custom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447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Application #1: Retail Price Monitoring (Current)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E12D1-648D-5099-D134-4B0ABF453E2F}"/>
              </a:ext>
            </a:extLst>
          </p:cNvPr>
          <p:cNvSpPr txBox="1"/>
          <p:nvPr/>
        </p:nvSpPr>
        <p:spPr>
          <a:xfrm>
            <a:off x="310897" y="1645920"/>
            <a:ext cx="3813048" cy="3744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F81BD"/>
                </a:solidFill>
              </a:defRPr>
            </a:pPr>
            <a:r>
              <a:rPr lang="fr-FR" dirty="0"/>
              <a:t>Market Opportunity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Target: </a:t>
            </a:r>
            <a:r>
              <a:rPr lang="fr-FR" dirty="0" err="1"/>
              <a:t>Supermarket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, CPG brands, </a:t>
            </a:r>
            <a:r>
              <a:rPr lang="fr-FR" dirty="0" err="1"/>
              <a:t>price</a:t>
            </a:r>
            <a:r>
              <a:rPr lang="fr-FR" dirty="0"/>
              <a:t> platforms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Market: €200M+ in </a:t>
            </a:r>
            <a:r>
              <a:rPr lang="fr-FR" dirty="0" err="1"/>
              <a:t>retail</a:t>
            </a:r>
            <a:r>
              <a:rPr lang="fr-FR" dirty="0"/>
              <a:t> </a:t>
            </a:r>
            <a:r>
              <a:rPr lang="fr-FR" dirty="0" err="1"/>
              <a:t>analytics</a:t>
            </a:r>
            <a:r>
              <a:rPr lang="fr-FR" dirty="0"/>
              <a:t> </a:t>
            </a:r>
            <a:r>
              <a:rPr lang="fr-FR" dirty="0" err="1"/>
              <a:t>annually</a:t>
            </a:r>
            <a:endParaRPr lang="fr-FR" dirty="0"/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Uses: </a:t>
            </a:r>
            <a:r>
              <a:rPr lang="fr-FR" dirty="0" err="1"/>
              <a:t>Competitive</a:t>
            </a:r>
            <a:r>
              <a:rPr lang="fr-FR" dirty="0"/>
              <a:t> </a:t>
            </a:r>
            <a:r>
              <a:rPr lang="fr-FR" dirty="0" err="1"/>
              <a:t>pricing</a:t>
            </a:r>
            <a:r>
              <a:rPr lang="fr-FR" dirty="0"/>
              <a:t>, promotions, </a:t>
            </a:r>
            <a:r>
              <a:rPr lang="fr-FR" dirty="0" err="1"/>
              <a:t>margins</a:t>
            </a:r>
            <a:endParaRPr lang="fr-FR" dirty="0"/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</a:t>
            </a:r>
            <a:r>
              <a:rPr lang="fr-FR" dirty="0" err="1"/>
              <a:t>Geography</a:t>
            </a:r>
            <a:r>
              <a:rPr lang="fr-FR" dirty="0"/>
              <a:t>: EU-</a:t>
            </a:r>
            <a:r>
              <a:rPr lang="fr-FR" dirty="0" err="1"/>
              <a:t>wide</a:t>
            </a:r>
            <a:r>
              <a:rPr lang="fr-FR" dirty="0"/>
              <a:t> (France, Spain, Germany, UK)</a:t>
            </a:r>
          </a:p>
          <a:p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65D9B-5508-0B4B-2C4B-5CD68F832393}"/>
              </a:ext>
            </a:extLst>
          </p:cNvPr>
          <p:cNvSpPr txBox="1"/>
          <p:nvPr/>
        </p:nvSpPr>
        <p:spPr>
          <a:xfrm>
            <a:off x="4489704" y="1645920"/>
            <a:ext cx="4197096" cy="315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F81BD"/>
                </a:solidFill>
              </a:defRPr>
            </a:pPr>
            <a:r>
              <a:rPr lang="fr-FR" dirty="0"/>
              <a:t>Revenue </a:t>
            </a:r>
            <a:r>
              <a:rPr lang="fr-FR" dirty="0" err="1"/>
              <a:t>Potential</a:t>
            </a:r>
            <a:endParaRPr lang="fr-FR" dirty="0"/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50 </a:t>
            </a:r>
            <a:r>
              <a:rPr lang="fr-FR" dirty="0" err="1"/>
              <a:t>customers</a:t>
            </a:r>
            <a:r>
              <a:rPr lang="fr-FR" dirty="0"/>
              <a:t> @ €250/</a:t>
            </a:r>
            <a:r>
              <a:rPr lang="fr-FR" dirty="0" err="1"/>
              <a:t>month</a:t>
            </a:r>
            <a:r>
              <a:rPr lang="fr-FR" dirty="0"/>
              <a:t> = €150,000/</a:t>
            </a:r>
            <a:r>
              <a:rPr lang="fr-FR" dirty="0" err="1"/>
              <a:t>year</a:t>
            </a:r>
            <a:endParaRPr lang="fr-FR" dirty="0"/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Data </a:t>
            </a:r>
            <a:r>
              <a:rPr lang="fr-FR" dirty="0" err="1"/>
              <a:t>licensing</a:t>
            </a:r>
            <a:r>
              <a:rPr lang="fr-FR" dirty="0"/>
              <a:t>: €2K-5K/</a:t>
            </a:r>
            <a:r>
              <a:rPr lang="fr-FR" dirty="0" err="1"/>
              <a:t>month</a:t>
            </a:r>
            <a:r>
              <a:rPr lang="fr-FR" dirty="0"/>
              <a:t> = €24K-60K/</a:t>
            </a:r>
            <a:r>
              <a:rPr lang="fr-FR" dirty="0" err="1"/>
              <a:t>year</a:t>
            </a:r>
            <a:endParaRPr lang="fr-FR" dirty="0"/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Consulting: 10 x €10K = €100K/</a:t>
            </a:r>
            <a:r>
              <a:rPr lang="fr-FR" dirty="0" err="1"/>
              <a:t>year</a:t>
            </a:r>
            <a:endParaRPr lang="fr-FR" dirty="0"/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lang="fr-FR" dirty="0"/>
              <a:t>• TOTAL: €274K-310K </a:t>
            </a:r>
            <a:r>
              <a:rPr lang="fr-FR" dirty="0" err="1"/>
              <a:t>Year</a:t>
            </a:r>
            <a:r>
              <a:rPr lang="fr-FR" dirty="0"/>
              <a:t> 1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The Scalability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REUSABLE CORE: </a:t>
            </a:r>
            <a:endParaRPr lang="en-US" dirty="0"/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Screenshot overlay + OCR + metadata works across ALL industries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FASTER EXPANSION: </a:t>
            </a:r>
            <a:endParaRPr lang="en-US" dirty="0"/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Each new vertical takes 4-6 weeks (30-40% code changes)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MARGINAL COSTS: </a:t>
            </a:r>
            <a:endParaRPr lang="en-US" dirty="0"/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Infrastructure scales logarithmically, not linearly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Phase 1 (Months 1-3): Refine retail, land 10-15 customers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  =&gt; Prove unit economics, build case studies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Phase 2 (Months 4-6): Launch real estate, expand retail to 30+ customers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  =&gt; Bundle offer: Retail + Real Estate (25% discount lock-in)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Phase 3 (Months 7-12): Add automotive, target SMBs &amp; mid-market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  =&gt; Multi-industry customers get enterprise pricing (€5K+/month)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Phase 4 (Year 2): Launch data licensing &amp; analytics SaaS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Why Snipper Tool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sz="2800" b="1" dirty="0"/>
              <a:t>Speed</a:t>
            </a:r>
            <a:r>
              <a:rPr dirty="0"/>
              <a:t>: 5x faster than manual (5.07h vs 19h/week)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sz="2800" b="1" dirty="0"/>
              <a:t>Accuracy</a:t>
            </a:r>
            <a:r>
              <a:rPr dirty="0"/>
              <a:t>: 100% validated data (vs 85% manual, 10% scraping)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sz="3200" b="1" dirty="0"/>
              <a:t>Legal</a:t>
            </a:r>
            <a:r>
              <a:rPr dirty="0"/>
              <a:t>: Zero IP bans, no GDPR violations (vs scraping risks)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sz="3200" b="1" dirty="0"/>
              <a:t>Cost: </a:t>
            </a:r>
            <a:r>
              <a:rPr dirty="0"/>
              <a:t>€7,630/year operational (vs €45.5K manual or €235K scraping)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sz="3200" b="1" dirty="0"/>
              <a:t>Scalable: </a:t>
            </a:r>
            <a:r>
              <a:rPr dirty="0"/>
              <a:t>Add stores/products without adding people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rPr dirty="0"/>
              <a:t>Repeatable: Works week after week with zero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5-Year 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758952"/>
            <a:ext cx="76809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sz="2400" dirty="0"/>
              <a:t>Year 1: 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sz="2400" dirty="0"/>
              <a:t>€275K revenue | €175K profit (64%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sz="2400" dirty="0"/>
              <a:t>Year 2: 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sz="2400" dirty="0"/>
              <a:t>€850K revenue | €600K profit (71%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sz="2400" dirty="0"/>
              <a:t>Year 3: 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sz="2400" dirty="0"/>
              <a:t>€2.1M revenue | €1.65M profit (79%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sz="2400" dirty="0"/>
              <a:t>Year 4: 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sz="2400" dirty="0"/>
              <a:t>€4M revenue | €3.3M profit (83%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rPr sz="2400" dirty="0"/>
              <a:t>Year 5: 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sz="2400" dirty="0"/>
              <a:t>€8M+ revenue | 85%+ margin (data licensing focus)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6656" y="1014984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rPr dirty="0"/>
              <a:t>Transform Data Collection into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696</Words>
  <Application>Microsoft Office PowerPoint</Application>
  <PresentationFormat>On-screen Show (4:3)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Horacio Emmanuel Fonseca</cp:lastModifiedBy>
  <cp:revision>4</cp:revision>
  <dcterms:created xsi:type="dcterms:W3CDTF">2013-01-27T09:14:16Z</dcterms:created>
  <dcterms:modified xsi:type="dcterms:W3CDTF">2026-04-28T04:53:14Z</dcterms:modified>
  <cp:category/>
</cp:coreProperties>
</file>