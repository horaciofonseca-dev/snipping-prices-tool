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The Reality Behind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ED7D31"/>
                </a:solidFill>
              </a:defRPr>
            </a:pPr>
            <a:r>
              <a:t>How Official Inflation Statistics Hide the True Cost of Living in Paris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Problem: Official Baskets are Incomplete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INSEE reports inflation based on a MINIMAL BASKET of emblematic products: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Milk, bread, eggs, cheese, butter, pasta...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But official baskets IGNORE the complementary items families actually need: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Different milk types (lactose-free, baby formula)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that complete meals (sauces, oils, spices)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Baby essentials (diapers, creams)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Dietary alternatives (allergies, intolerances)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Result: Official inflation numbers measure SURVIVAL, not LIVING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What's Missing from Official Baskets?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BABY &amp; FAMILY ESSENTIALS (27.98 EUR/month):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Diapers: 18.99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Baby creams &amp; ointments: 8.99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DIETARY VARIETIES &amp; ALTERNATIVES: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Lactose-free milk, gluten-free options, different protein sources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COMPLEMENTARY COOKING ITEMS: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Spices, sauces, quality oils - items that complete meals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HEALTH &amp; HYGIENE ESSENTIALS: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Toilet paper, soap, shampoo, toothpaste: 15-20 EUR/month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CULTURAL &amp; LIFE QUALITY: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Wine, chocolate, treats - the cost of living, not just surviving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Cost Gap: Official vs Real</a:t>
            </a:r>
          </a:p>
        </p:txBody>
      </p:sp>
      <p:pic>
        <p:nvPicPr>
          <p:cNvPr id="3" name="Picture 2" descr="01_bask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17155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Official inflation rates are built on incomplete baskets.</a:t>
            </a:r>
            <a:br/>
            <a:r>
              <a:t>They measure SURVIVAL, not LIVING.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CLICHE INSIGHT #1: The Incomplete Statistic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Affordability Cliff: When Real Costs Exceed Means</a:t>
            </a:r>
          </a:p>
        </p:txBody>
      </p:sp>
      <p:pic>
        <p:nvPicPr>
          <p:cNvPr id="3" name="Picture 2" descr="02_affordability_cli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75819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Affordability by Paris Income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SMIC WORKERS (21,000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Official basket: 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Real complete basket: 18% of income (DIFFICULT)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Healthy basket: 24% of income (CRISIS - NO MONEY FOR ANYTHING ELSE)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MEDIAN PARIS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Real basket: 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Healthy basket: 12% of income (TIGHT)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CLIFF: Below 40k EUR annual income, healthy eating becomes IMPOSSIBLE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Healthy eating is a luxury.</a:t>
            </a:r>
            <a:br/>
            <a:r>
              <a:t>The poor must eat cheap (unhealthy).</a:t>
            </a:r>
            <a:br/>
            <a:r>
              <a:t>The wealthy eat well.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CLICHE INSIGHT #2: Health as Inequality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Hidden Gap: What's Not Counted</a:t>
            </a:r>
          </a:p>
        </p:txBody>
      </p:sp>
      <p:pic>
        <p:nvPicPr>
          <p:cNvPr id="3" name="Picture 2" descr="03_gap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7774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Babies don't exist in official inflation baskets.</a:t>
            </a:r>
            <a:br/>
            <a:r>
              <a:t>Neither do allergy sufferers.</a:t>
            </a:r>
            <a:br/>
            <a:r>
              <a:t>Or single parents managing dietary needs.</a:t>
            </a:r>
            <a:br/>
            <a:r>
              <a:t>Statistical invisibility = institutional indifference.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CREATIVE INSIGHT #1: The Erased Family Reality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What's Actually in Each Basket?</a:t>
            </a:r>
          </a:p>
        </p:txBody>
      </p:sp>
      <p:pic>
        <p:nvPicPr>
          <p:cNvPr id="3" name="Picture 2" descr="04_basket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425540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Health Paradox: When Healthy Becomes Impossible</a:t>
            </a:r>
          </a:p>
        </p:txBody>
      </p:sp>
      <p:pic>
        <p:nvPicPr>
          <p:cNvPr id="3" name="Picture 2" descr="05_healthy_cl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905582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The poor eat cheap and get sick.</a:t>
            </a:r>
            <a:br/>
            <a:r>
              <a:t>The sick can't afford healthcare.</a:t>
            </a:r>
            <a:br/>
            <a:r>
              <a:t>Healthcare costs break the budget.</a:t>
            </a:r>
            <a:br/>
            <a:r>
              <a:t>Food affordability creates a poverty trap.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CREATIVE INSIGHT #2: The Poverty Health Trap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Data Reveals the Truth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OFFICIAL MINIMAL BASKET (Monthly): 259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counted: 11 emblematic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3,107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COMPLETE BASKET (Monthly): 510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needed: 29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6,119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Hidden gap: +97% more than official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HEALTHY COMPLETE BASKET (Monthly): 630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Items for health: 36 products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Annual cost: 7,558 EUR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Health premium: +24% more than real basket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Affordability Multiplier: Household Composition Impact</a:t>
            </a:r>
          </a:p>
        </p:txBody>
      </p:sp>
      <p:pic>
        <p:nvPicPr>
          <p:cNvPr id="3" name="Picture 2" descr="06_household_cost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5216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Multiplication Effect: Composition × Income = Crisis</a:t>
            </a:r>
          </a:p>
        </p:txBody>
      </p:sp>
      <p:pic>
        <p:nvPicPr>
          <p:cNvPr id="3" name="Picture 2" descr="07_affordability_by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36729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Household Composition Multiplier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SMIC WORKER (21,000 EUR/year = 1,750 EUR/month):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Base (2 adults + 1 child): 17.4%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Teenager: 33.8% of income (IMPOSSIBLE - NO MONEY FOR HOUSING)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Senior: 36.4% of income (CATASTROPHIC)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MEDIAN PARIS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Base: 8.7% of income (EXCELLENT)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Teenager: 16.9% of income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+1 Senior: 18.2% of income (DIFFICULT BUT POSSIBLE)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CRUEL REALITY: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don't control their composition. They have children, care for aging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parents. Yet affordability multiplies with each family member.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Below 35k income: Growing families become impossible families.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Invisibility Crisis: Who Official Statistics Erase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SENIORS: Specialized dietary needs (soft foods, health management)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€334/month more than baseline, but counted as 'standard adult'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Elderly people disappear from policy view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TEENAGERS: Abrupt appetite transition (110% cost jump at age 13)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Malnutrition risk precisely when growth is critical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Not child-cost, not adult-cost—uncounted gap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 SANDWICH GENERATION: Supporting both elderly AND children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45-year-old: Parent +€334, Child +€304 = household multiplied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€941/month food costs (27% of median income)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Silent burden. Invisible in statistics. Breaking quietly.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What gets priced out of reach doesn't get born.</a:t>
            </a:r>
            <a:br/>
            <a:r>
              <a:t>Food affordability is not just poverty.</a:t>
            </a:r>
            <a:br/>
            <a:r>
              <a:t>It's a demographic determinant.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THE HIDDEN CONSEQUENCE: Why Birth Rates Are Collapsing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Birth Rate as Economic Rationing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Young couple, median Paris income (42,000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1 child: 12.6% of income on food (MANAGEABLE)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2 children: 16.5% of income on food (DIFFICULT)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3 children: 20.4% of income on food (IMPOSSIBLE)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Young couple, SMIC (21,000 EUR/year):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1 child: 25.2% of income (CRISIS)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2 children: 38.9% of income (IMPOSSIBLE - CHOOSE: FOOD OR HOUSING)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Paris birth rate: 1.4 children/woman (replacement: 2.1)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This is not cultural choice. This is economic calculus.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are rationing their size. Demographic collapse is silent rationing.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POLICY MAKERS base decisions on official inflation rates that underestimate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costs by 30-50%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WORKERS see their salaries (linked to inflation) never keep pace with actual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living expenses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FAMILIES make impossible choices: healthy food OR paying rent?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Diapers OR transportation?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INEQUALITY is hidden in the numbers. What's not measured is not managed.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STATISTICS are not neutral. They reveal what society has decided to COUNT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and what it chooses to IGNORE.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The Opportunity: Real Data for Real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Snipper Tool changes this by collecting REAL pricing data for REAL baskets: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Real families don't buy INSEE baskets.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They buy complete meals, dietary alternatives, baby products, and items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that support healthy, dignified family life.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By tracking ACTUAL purchases across Paris supermarkets, Snipper Tool can: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Expose the gap between official statistics and real costs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Track health-focused pricing decisions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Identify affordability cliffs by income and family type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Provide data for better policy and wage decisions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D7D31"/>
                </a:solidFill>
              </a:defRPr>
            </a:pPr>
            <a:r>
              <a:t>The numbers never lie.</a:t>
            </a:r>
            <a:br/>
            <a:r>
              <a:t>But incomplete numbers hide the truth.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7548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FINAL INSIGHT: What You Measure is What You Manage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This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Dataset: 2,163 synthetic price observations (Apr 2025 - Apr 2026)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From Snipper Tool captures in Paris Auchan and Carrefour stores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Compared THREE basket types: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1. Official INSEE Minimal Basket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2. Real Complete Living Basket (includes complementary items)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3. Healthy Complete Basket (for nutritional wellness)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Against PARIS HOUSEHOLD INCOMES: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SMIC (minimum wage): 21,000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Low income: 28,000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Median: 42,000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• Upper middle: 65,000 EUR/year</a:t>
            </a: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Geography: Paris region (Ile-de-France)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D76"/>
                </a:solidFill>
              </a:defRPr>
            </a:pPr>
            <a:r>
              <a:t>Complete Budget Reality: Where SMIC Families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All Essential Monthly Costs vs. Income</a:t>
            </a:r>
          </a:p>
        </p:txBody>
      </p:sp>
      <p:pic>
        <p:nvPicPr>
          <p:cNvPr id="4" name="Picture 3" descr="08_complete_budget_re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47226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76"/>
                </a:solidFill>
              </a:defRPr>
            </a:pPr>
            <a:r>
              <a:t>The Structural Deficit: Income vs.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4114800"/>
          </a:xfrm>
          <a:prstGeom prst="rect">
            <a:avLst/>
          </a:prstGeom>
          <a:solidFill>
            <a:srgbClr val="FFF0F0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>
              <a:defRPr sz="1800" b="1">
                <a:solidFill>
                  <a:srgbClr val="C80000"/>
                </a:solidFill>
              </a:defRPr>
            </a:pPr>
            <a:r>
              <a:t>SMIC FAMILY</a:t>
            </a:r>
          </a:p>
          <a:p>
            <a:pPr>
              <a:defRPr sz="1100"/>
            </a:pPr>
            <a:r>
              <a:t>Monthly Income: €1,750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Essential Costs:</a:t>
            </a:r>
          </a:p>
          <a:p>
            <a:pPr>
              <a:defRPr sz="1100"/>
            </a:pPr>
            <a:r>
              <a:t>• Housing: €725</a:t>
            </a:r>
          </a:p>
          <a:p>
            <a:pPr>
              <a:defRPr sz="1100"/>
            </a:pPr>
            <a:r>
              <a:t>• Food: €304</a:t>
            </a:r>
          </a:p>
          <a:p>
            <a:pPr>
              <a:defRPr sz="1100"/>
            </a:pPr>
            <a:r>
              <a:t>• Utilities: €150</a:t>
            </a:r>
          </a:p>
          <a:p>
            <a:pPr>
              <a:defRPr sz="1100"/>
            </a:pPr>
            <a:r>
              <a:t>• Childcare: €200</a:t>
            </a:r>
          </a:p>
          <a:p>
            <a:pPr>
              <a:defRPr sz="1100"/>
            </a:pPr>
            <a:r>
              <a:t>• Transport: €100</a:t>
            </a:r>
          </a:p>
          <a:p>
            <a:pPr>
              <a:defRPr sz="1100"/>
            </a:pPr>
            <a:r>
              <a:t>• Other: €245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TOTAL: €1,824</a:t>
            </a:r>
          </a:p>
          <a:p>
            <a:pPr>
              <a:defRPr sz="1100"/>
            </a:pPr>
          </a:p>
          <a:p>
            <a:pPr>
              <a:defRPr sz="1100" b="1">
                <a:solidFill>
                  <a:srgbClr val="C80000"/>
                </a:solidFill>
              </a:defRPr>
            </a:pPr>
            <a:r>
              <a:t>MONTHLY DEFICIT:</a:t>
            </a:r>
          </a:p>
          <a:p>
            <a:pPr>
              <a:defRPr sz="1100"/>
            </a:pPr>
            <a:r>
              <a:t>-€74 per month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Government transfers</a:t>
            </a:r>
          </a:p>
          <a:p>
            <a:pPr>
              <a:defRPr sz="1100" b="1">
                <a:solidFill>
                  <a:srgbClr val="C80000"/>
                </a:solidFill>
              </a:defRPr>
            </a:pPr>
            <a:r>
              <a:t>required to break even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097280"/>
            <a:ext cx="3840480" cy="4114800"/>
          </a:xfrm>
          <a:prstGeom prst="rect">
            <a:avLst/>
          </a:prstGeom>
          <a:solidFill>
            <a:srgbClr val="F0FFF0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>
              <a:defRPr sz="1800" b="1">
                <a:solidFill>
                  <a:srgbClr val="009600"/>
                </a:solidFill>
              </a:defRPr>
            </a:pPr>
            <a:r>
              <a:t>MEDIAN FAMILY</a:t>
            </a:r>
          </a:p>
          <a:p>
            <a:pPr>
              <a:defRPr sz="1100"/>
            </a:pPr>
            <a:r>
              <a:t>Monthly Income: €3,500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Essential Costs:</a:t>
            </a:r>
          </a:p>
          <a:p>
            <a:pPr>
              <a:defRPr sz="1100"/>
            </a:pPr>
            <a:r>
              <a:t>• Housing: €1,150</a:t>
            </a:r>
          </a:p>
          <a:p>
            <a:pPr>
              <a:defRPr sz="1100"/>
            </a:pPr>
            <a:r>
              <a:t>• Food: €304</a:t>
            </a:r>
          </a:p>
          <a:p>
            <a:pPr>
              <a:defRPr sz="1100"/>
            </a:pPr>
            <a:r>
              <a:t>• Utilities: €150</a:t>
            </a:r>
          </a:p>
          <a:p>
            <a:pPr>
              <a:defRPr sz="1100"/>
            </a:pPr>
            <a:r>
              <a:t>• Childcare: €200</a:t>
            </a:r>
          </a:p>
          <a:p>
            <a:pPr>
              <a:defRPr sz="1100"/>
            </a:pPr>
            <a:r>
              <a:t>• Transport: €100</a:t>
            </a:r>
          </a:p>
          <a:p>
            <a:pPr>
              <a:defRPr sz="1100"/>
            </a:pPr>
            <a:r>
              <a:t>• Other: €245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TOTAL: €2,249</a:t>
            </a:r>
          </a:p>
          <a:p>
            <a:pPr>
              <a:defRPr sz="1100"/>
            </a:pPr>
          </a:p>
          <a:p>
            <a:pPr>
              <a:defRPr sz="1100" b="1">
                <a:solidFill>
                  <a:srgbClr val="009600"/>
                </a:solidFill>
              </a:defRPr>
            </a:pPr>
            <a:r>
              <a:t>MONTHLY SURPLUS:</a:t>
            </a:r>
          </a:p>
          <a:p>
            <a:pPr>
              <a:defRPr sz="1100"/>
            </a:pPr>
            <a:r>
              <a:t>+€1,251 per month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Can save, invest,</a:t>
            </a:r>
          </a:p>
          <a:p>
            <a:pPr>
              <a:defRPr sz="1100"/>
            </a:pPr>
            <a:r>
              <a:t>handle emergencies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76"/>
                </a:solidFill>
              </a:defRPr>
            </a:pPr>
            <a:r>
              <a:t>Why This Matters: Poverty is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0000"/>
                </a:solidFill>
              </a:defRPr>
            </a:pPr>
            <a:r>
              <a:t>SMIC families cannot survive on SMIC income alone.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Government transfers (CAF, housing allowance: €300-550/month) are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structural survival requirement, not supplemental help.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With transfers, SMIC families break even with no margin for: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Emergencies (car repairs, medical events)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Savings (impossible)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Family composition changes (baby, aging parent)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When composition changes occur (teenage child costs €3,461/year more),</a:t>
            </a:r>
          </a:p>
          <a:p>
            <a:pPr>
              <a:defRPr sz="1400" b="1">
                <a:solidFill>
                  <a:srgbClr val="C80000"/>
                </a:solidFill>
              </a:defRPr>
            </a:pPr>
            <a:r>
              <a:t>SMIC families have NO margin to absorb the cost.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C80000"/>
                </a:solidFill>
              </a:defRPr>
            </a:pPr>
            <a:r>
              <a:t>Result: Debt accumulation OR going without essentials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D76"/>
                </a:solidFill>
              </a:defRPr>
            </a:pPr>
            <a:r>
              <a:t>Complete Budget Reality: Where SMIC Families 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All Essential Monthly Costs vs. Income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34722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76"/>
                </a:solidFill>
              </a:defRPr>
            </a:pPr>
            <a:r>
              <a:t>The Structural Deficit: Income vs.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4114800"/>
          </a:xfrm>
          <a:prstGeom prst="rect">
            <a:avLst/>
          </a:prstGeom>
          <a:solidFill>
            <a:srgbClr val="FFF0F0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>
              <a:defRPr sz="1800" b="1">
                <a:solidFill>
                  <a:srgbClr val="C80000"/>
                </a:solidFill>
              </a:defRPr>
            </a:pPr>
            <a:r>
              <a:t>SMIC FAMILY</a:t>
            </a:r>
          </a:p>
          <a:p>
            <a:pPr>
              <a:defRPr sz="1100"/>
            </a:pPr>
            <a:r>
              <a:t>Monthly Income: €1,750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Essential Costs:</a:t>
            </a:r>
          </a:p>
          <a:p>
            <a:pPr>
              <a:defRPr sz="1100"/>
            </a:pPr>
            <a:r>
              <a:t>• Housing: €725</a:t>
            </a:r>
          </a:p>
          <a:p>
            <a:pPr>
              <a:defRPr sz="1100"/>
            </a:pPr>
            <a:r>
              <a:t>• Food: €304</a:t>
            </a:r>
          </a:p>
          <a:p>
            <a:pPr>
              <a:defRPr sz="1100"/>
            </a:pPr>
            <a:r>
              <a:t>• Utilities: €150</a:t>
            </a:r>
          </a:p>
          <a:p>
            <a:pPr>
              <a:defRPr sz="1100"/>
            </a:pPr>
            <a:r>
              <a:t>• Childcare: €200</a:t>
            </a:r>
          </a:p>
          <a:p>
            <a:pPr>
              <a:defRPr sz="1100"/>
            </a:pPr>
            <a:r>
              <a:t>• Transport: €100</a:t>
            </a:r>
          </a:p>
          <a:p>
            <a:pPr>
              <a:defRPr sz="1100"/>
            </a:pPr>
            <a:r>
              <a:t>• Other: €245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TOTAL: €1,824</a:t>
            </a:r>
          </a:p>
          <a:p>
            <a:pPr>
              <a:defRPr sz="1100"/>
            </a:pPr>
          </a:p>
          <a:p>
            <a:pPr>
              <a:defRPr sz="1100" b="1">
                <a:solidFill>
                  <a:srgbClr val="C80000"/>
                </a:solidFill>
              </a:defRPr>
            </a:pPr>
            <a:r>
              <a:t>MONTHLY DEFICIT:</a:t>
            </a:r>
          </a:p>
          <a:p>
            <a:pPr>
              <a:defRPr sz="1100"/>
            </a:pPr>
            <a:r>
              <a:t>-€74 per month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Government transfers</a:t>
            </a:r>
          </a:p>
          <a:p>
            <a:pPr>
              <a:defRPr sz="1100" b="1">
                <a:solidFill>
                  <a:srgbClr val="C80000"/>
                </a:solidFill>
              </a:defRPr>
            </a:pPr>
            <a:r>
              <a:t>required to break even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097280"/>
            <a:ext cx="3840480" cy="4114800"/>
          </a:xfrm>
          <a:prstGeom prst="rect">
            <a:avLst/>
          </a:prstGeom>
          <a:solidFill>
            <a:srgbClr val="F0FFF0"/>
          </a:solidFill>
          <a:ln w="25400">
            <a:solidFill>
              <a:srgbClr val="00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>
              <a:defRPr sz="1800" b="1">
                <a:solidFill>
                  <a:srgbClr val="009600"/>
                </a:solidFill>
              </a:defRPr>
            </a:pPr>
            <a:r>
              <a:t>MEDIAN FAMILY</a:t>
            </a:r>
          </a:p>
          <a:p>
            <a:pPr>
              <a:defRPr sz="1100"/>
            </a:pPr>
            <a:r>
              <a:t>Monthly Income: €3,500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Essential Costs:</a:t>
            </a:r>
          </a:p>
          <a:p>
            <a:pPr>
              <a:defRPr sz="1100"/>
            </a:pPr>
            <a:r>
              <a:t>• Housing: €1,150</a:t>
            </a:r>
          </a:p>
          <a:p>
            <a:pPr>
              <a:defRPr sz="1100"/>
            </a:pPr>
            <a:r>
              <a:t>• Food: €304</a:t>
            </a:r>
          </a:p>
          <a:p>
            <a:pPr>
              <a:defRPr sz="1100"/>
            </a:pPr>
            <a:r>
              <a:t>• Utilities: €150</a:t>
            </a:r>
          </a:p>
          <a:p>
            <a:pPr>
              <a:defRPr sz="1100"/>
            </a:pPr>
            <a:r>
              <a:t>• Childcare: €200</a:t>
            </a:r>
          </a:p>
          <a:p>
            <a:pPr>
              <a:defRPr sz="1100"/>
            </a:pPr>
            <a:r>
              <a:t>• Transport: €100</a:t>
            </a:r>
          </a:p>
          <a:p>
            <a:pPr>
              <a:defRPr sz="1100"/>
            </a:pPr>
            <a:r>
              <a:t>• Other: €245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TOTAL: €2,249</a:t>
            </a:r>
          </a:p>
          <a:p>
            <a:pPr>
              <a:defRPr sz="1100"/>
            </a:pPr>
          </a:p>
          <a:p>
            <a:pPr>
              <a:defRPr sz="1100" b="1">
                <a:solidFill>
                  <a:srgbClr val="009600"/>
                </a:solidFill>
              </a:defRPr>
            </a:pPr>
            <a:r>
              <a:t>MONTHLY SURPLUS:</a:t>
            </a:r>
          </a:p>
          <a:p>
            <a:pPr>
              <a:defRPr sz="1100"/>
            </a:pPr>
            <a:r>
              <a:t>+€1,251 per month</a:t>
            </a:r>
          </a:p>
          <a:p>
            <a:pPr>
              <a:defRPr sz="1100"/>
            </a:pPr>
          </a:p>
          <a:p>
            <a:pPr>
              <a:defRPr sz="1100"/>
            </a:pPr>
            <a:r>
              <a:t>Can save, invest,</a:t>
            </a:r>
          </a:p>
          <a:p>
            <a:pPr>
              <a:defRPr sz="1100"/>
            </a:pPr>
            <a:r>
              <a:t>handle emergencies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4D76"/>
                </a:solidFill>
              </a:defRPr>
            </a:pPr>
            <a:r>
              <a:t>Why This Matters: Poverty is 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80000"/>
                </a:solidFill>
              </a:defRPr>
            </a:pPr>
            <a:r>
              <a:t>SMIC families cannot survive on SMIC income alone.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Government transfers (CAF, housing allowance: €300-550/month) are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structural survival requirement, not supplemental help.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With transfers, SMIC families break even with no margin for: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Emergencies (car repairs, medical events)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Savings (impossible)</a:t>
            </a:r>
          </a:p>
          <a:p>
            <a:pPr>
              <a:defRPr sz="1400">
                <a:solidFill>
                  <a:srgbClr val="646464"/>
                </a:solidFill>
              </a:defRPr>
            </a:pPr>
            <a:r>
              <a:t>  • Family composition changes (baby, aging parent)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When composition changes occur (teenage child costs €3,461/year more),</a:t>
            </a:r>
          </a:p>
          <a:p>
            <a:pPr>
              <a:defRPr sz="1400" b="1">
                <a:solidFill>
                  <a:srgbClr val="C80000"/>
                </a:solidFill>
              </a:defRPr>
            </a:pPr>
            <a:r>
              <a:t>SMIC families have NO margin to absorb the cost.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 b="1">
                <a:solidFill>
                  <a:srgbClr val="C80000"/>
                </a:solidFill>
              </a:defRPr>
            </a:pPr>
            <a:r>
              <a:t>Result: Debt accumulation OR going without essentials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