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63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The Reality Behind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ED7D31"/>
                </a:solidFill>
              </a:defRPr>
            </a:pPr>
            <a:r>
              <a:rPr sz="3200" dirty="0"/>
              <a:t>How Official Inflation Statistics Hide the True Cost of Living in Paris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Problem: Official Baskets are Incomplete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INSEE reports inflation based on a MINIMAL BASKET of emblematic products: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Milk, bread, eggs, cheese, butter, pasta...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But official baskets IGNORE the complementary items families actually need: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Different milk types (lactose-free, baby formula)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that complete meals (sauces, oils, spices)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Baby essentials (diapers, creams)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Dietary alternatives (allergies, intolerances)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Result: Official inflation numbers measure SURVIVAL, not LIVING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What's Missing from Official Baskets?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BABY &amp; FAMILY ESSENTIALS (27.98 EUR/month):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Diapers: 18.99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Baby creams &amp; ointments: 8.99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DIETARY VARIETIES &amp; ALTERNATIVES: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Lactose-free milk, gluten-free options, different protein sources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COMPLEMENTARY COOKING ITEMS: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Spices, sauces, quality oils - items that complete meals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HEALTH &amp; HYGIENE ESSENTIALS: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Toilet paper, soap, shampoo, toothpaste: 15-20 EUR/month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CULTURAL &amp; LIFE QUALITY: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Wine, chocolate, treats - the cost of living, not just surviving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Cost Gap: Official vs Real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6C60CB-13CA-30D4-CECE-D387DBF53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3693"/>
            <a:ext cx="9144000" cy="38106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3600" dirty="0"/>
              <a:t>Official inflation rates are built on incomplete baskets.</a:t>
            </a:r>
            <a:br>
              <a:rPr sz="3600" dirty="0"/>
            </a:br>
            <a:r>
              <a:rPr sz="3600" dirty="0"/>
              <a:t>They measure SURVIVAL, not LIVING.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317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Affordability Cliff: When Real Costs Exceed Means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7B35E-30DE-22DC-4334-738104DD7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2400"/>
            <a:ext cx="9144000" cy="44916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Affordability by Paris Income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SMIC WORKERS (21,000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Official basket: 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Real complete basket: 18% of income (DIFFICULT)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Healthy basket: 24% of income (CRISIS - NO MONEY FOR ANYTHING ELSE)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MEDIAN PARIS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Real basket: 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Healthy basket: 12% of income (TIGHT)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 CLIFF: Below 40k EUR annual income, healthy eating becomes IMPOSSIBLE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4000" dirty="0"/>
              <a:t>Healthy eating is a luxury.</a:t>
            </a:r>
            <a:br>
              <a:rPr sz="4000" dirty="0"/>
            </a:br>
            <a:r>
              <a:rPr sz="4000" dirty="0"/>
              <a:t>The poor must eat cheap (unhealthy).</a:t>
            </a:r>
            <a:br>
              <a:rPr sz="4000" dirty="0"/>
            </a:br>
            <a:r>
              <a:rPr sz="4000" dirty="0"/>
              <a:t>The wealthy eat well.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Hidden Gap: What's Not Counted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77C219-816B-A66B-04F6-5C2928956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0511"/>
            <a:ext cx="9144000" cy="52366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859971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dirty="0"/>
              <a:t>Babies don't exist in official inflation baskets.</a:t>
            </a:r>
            <a:br>
              <a:rPr dirty="0"/>
            </a:br>
            <a:r>
              <a:rPr dirty="0"/>
              <a:t>Neither do allergy sufferers.</a:t>
            </a:r>
            <a:br>
              <a:rPr dirty="0"/>
            </a:br>
            <a:r>
              <a:rPr dirty="0"/>
              <a:t>Or single parents managing dietary needs.</a:t>
            </a:r>
            <a:br>
              <a:rPr dirty="0"/>
            </a:br>
            <a:r>
              <a:rPr dirty="0"/>
              <a:t>Statistical invisibility = institutional indifference.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What's Actually in Each Basket?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299C1-66FF-93BB-0CFF-F8FD0C7C4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16" y="1959450"/>
            <a:ext cx="3648584" cy="32484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7DDECC-C71C-7910-8DF3-CC45342D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9" y="840819"/>
            <a:ext cx="3115416" cy="28494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E04535-FF0A-4FD4-6539-B9803A8AF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999" y="3690285"/>
            <a:ext cx="3152349" cy="303528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Health Paradox: When Healthy Becomes Impossible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4FFCC-E4D9-BFE9-56FA-7ABA9002E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4969"/>
            <a:ext cx="9144000" cy="4854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188720"/>
            <a:ext cx="73152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4000" dirty="0"/>
              <a:t>The poor eat cheap and get sick.</a:t>
            </a:r>
            <a:br>
              <a:rPr sz="4000" dirty="0"/>
            </a:br>
            <a:r>
              <a:rPr sz="4000" dirty="0"/>
              <a:t>The sick can't afford healthcare.</a:t>
            </a:r>
            <a:br>
              <a:rPr sz="4000" dirty="0"/>
            </a:br>
            <a:r>
              <a:rPr sz="4000" dirty="0"/>
              <a:t>Healthcare costs break the budget.</a:t>
            </a:r>
            <a:endParaRPr lang="en-US" sz="4000" dirty="0"/>
          </a:p>
          <a:p>
            <a:pPr algn="ctr">
              <a:defRPr sz="3200" b="1" i="1">
                <a:solidFill>
                  <a:srgbClr val="ED7D31"/>
                </a:solidFill>
              </a:defRPr>
            </a:pPr>
            <a:br>
              <a:rPr sz="4000" dirty="0"/>
            </a:br>
            <a:r>
              <a:rPr sz="4000" dirty="0"/>
              <a:t>Food affordability creates a poverty trap.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Data Reveals the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892" y="992778"/>
            <a:ext cx="7680960" cy="5273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OFFICIAL MINIMAL BASKET (Monthly): 259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Items counted: 11 emblematic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Annual cost: 3,107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REAL COMPLETE BASKET (Monthly): 510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Items needed: 29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Annual cost: 6,119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Hidden gap: +97% more than official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HEALTHY COMPLETE BASKET (Monthly): 630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Items for health: 36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Annual cost: 7,558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Health premium: +24% more than real basket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60714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Affordability Multiplier: Household Composition Impact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4CE415-7DAF-B010-3AE6-B5A522317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0260"/>
            <a:ext cx="9144000" cy="527262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Household Composition Multiplier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1257" y="1188720"/>
            <a:ext cx="8632372" cy="576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SMIC WORKER (21,000 EUR/year = 1,750 EUR/month):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Base (2 adults + 1 child): 17.4%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Teenager: 33.8% of income (IMPOSSIBLE - NO MONEY FOR HOUSING)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Senior: 36.4% of income (CATASTROPHIC)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MEDIAN PARIS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Base: 8.7% of income (EXCELLENT)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Teenager: 16.9%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Senior: 18.2% of income (DIFFICULT BUT POSSIBLE)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THE CRUEL REALITY: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Families don't control their composition. They have children, care for aging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parents. Yet affordability multiplies with each family member.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Below 35k income: Growing families become impossible families.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Invisibility Crisis: Who Official Statistics Erase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7713" y="1188720"/>
            <a:ext cx="8806543" cy="478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SENIORS:</a:t>
            </a:r>
            <a:r>
              <a:rPr dirty="0"/>
              <a:t> Specialized dietary needs (soft foods, health management)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€334/month more than baseline, but counted as 'standard adult'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Elderly people disappear from policy view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TEENAGERS: </a:t>
            </a:r>
            <a:r>
              <a:rPr dirty="0"/>
              <a:t>Abrupt appetite transition (110% cost jump at age 13)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Malnutrition risk precisely when growth is critical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Not child-cost, not adult-cost—uncounted gap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b="1" dirty="0"/>
              <a:t>THE SANDWICH GENERATION: </a:t>
            </a:r>
            <a:r>
              <a:rPr dirty="0">
                <a:solidFill>
                  <a:srgbClr val="FF0000"/>
                </a:solidFill>
              </a:rPr>
              <a:t>Supporting both elderly AND children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45-year-old: Parent +€334, Child +€304 = household multiplied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€941/month food costs (27% of median income)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Silent burden. Invisible in statistics. Breaking quietly.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What gets priced out of reach doesn't get born.</a:t>
            </a:r>
            <a:br/>
            <a:r>
              <a:t>Food affordability is not just poverty.</a:t>
            </a:r>
            <a:br/>
            <a:r>
              <a:t>It's a demographic determinant.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THE HIDDEN CONSEQUENCE: Why Birth Rates Are Collapsing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Birth Rate as Economic Rationing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sz="2400" b="1" dirty="0"/>
              <a:t>Young couple, median Paris in</a:t>
            </a:r>
            <a:r>
              <a:rPr sz="2400" b="1" dirty="0">
                <a:solidFill>
                  <a:srgbClr val="333333"/>
                </a:solidFill>
              </a:rPr>
              <a:t>come</a:t>
            </a:r>
            <a:r>
              <a:rPr sz="2400" dirty="0"/>
              <a:t> </a:t>
            </a:r>
            <a:r>
              <a:rPr dirty="0"/>
              <a:t>(</a:t>
            </a:r>
            <a:r>
              <a:rPr dirty="0">
                <a:solidFill>
                  <a:srgbClr val="FF0000"/>
                </a:solidFill>
              </a:rPr>
              <a:t>42,000 EUR</a:t>
            </a:r>
            <a:r>
              <a:rPr dirty="0"/>
              <a:t>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1 child: 12.6% of income on food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dirty="0">
                <a:solidFill>
                  <a:srgbClr val="FF0000"/>
                </a:solidFill>
              </a:rPr>
              <a:t>2 children</a:t>
            </a:r>
            <a:r>
              <a:rPr dirty="0"/>
              <a:t>: 16.5% of income on food (</a:t>
            </a:r>
            <a:r>
              <a:rPr dirty="0">
                <a:solidFill>
                  <a:srgbClr val="FF0000"/>
                </a:solidFill>
              </a:rPr>
              <a:t>DIFFICULT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dirty="0">
                <a:solidFill>
                  <a:srgbClr val="FF0000"/>
                </a:solidFill>
              </a:rPr>
              <a:t>3 children</a:t>
            </a:r>
            <a:r>
              <a:rPr dirty="0"/>
              <a:t>: 20.4% of income on food (</a:t>
            </a:r>
            <a:r>
              <a:rPr dirty="0">
                <a:solidFill>
                  <a:srgbClr val="FF0000"/>
                </a:solidFill>
              </a:rPr>
              <a:t>IMPOSSIBLE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sz="2400" b="1" dirty="0"/>
              <a:t>Young couple, SMIC </a:t>
            </a:r>
            <a:r>
              <a:rPr dirty="0"/>
              <a:t>(</a:t>
            </a:r>
            <a:r>
              <a:rPr dirty="0">
                <a:solidFill>
                  <a:srgbClr val="FF0000"/>
                </a:solidFill>
              </a:rPr>
              <a:t>21,000 EUR</a:t>
            </a:r>
            <a:r>
              <a:rPr dirty="0"/>
              <a:t>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dirty="0">
                <a:solidFill>
                  <a:srgbClr val="FF0000"/>
                </a:solidFill>
              </a:rPr>
              <a:t>1 child</a:t>
            </a:r>
            <a:r>
              <a:rPr dirty="0"/>
              <a:t>: 25.2% of income (</a:t>
            </a:r>
            <a:r>
              <a:rPr dirty="0">
                <a:solidFill>
                  <a:srgbClr val="FF0000"/>
                </a:solidFill>
              </a:rPr>
              <a:t>CRISIS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dirty="0">
                <a:solidFill>
                  <a:srgbClr val="FF0000"/>
                </a:solidFill>
              </a:rPr>
              <a:t>2 children</a:t>
            </a:r>
            <a:r>
              <a:rPr dirty="0"/>
              <a:t>: 38.9% of income (</a:t>
            </a:r>
            <a:r>
              <a:rPr dirty="0">
                <a:solidFill>
                  <a:srgbClr val="FF0000"/>
                </a:solidFill>
              </a:rPr>
              <a:t>IMPOSSIBLE</a:t>
            </a:r>
            <a:r>
              <a:rPr dirty="0"/>
              <a:t> - CHOOSE: FOOD OR HOUSING)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sz="2400" b="1" dirty="0"/>
              <a:t>Paris birth rate: </a:t>
            </a:r>
            <a:r>
              <a:rPr dirty="0">
                <a:solidFill>
                  <a:srgbClr val="FF0000"/>
                </a:solidFill>
              </a:rPr>
              <a:t>1.4 children</a:t>
            </a:r>
            <a:r>
              <a:rPr dirty="0"/>
              <a:t>/woman (replacement: 2.1)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This is not cultural choice. This is economic calculus.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Families are rationing their size. Demographic collapse is silent rationing.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042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POLICY MAKERS base decisions on official inflation rates that underestimate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real costs by 30-50%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WORKERS see their salaries (linked to inflation) never keep pace with actual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living expenses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FAMILIES make impossible choices: healthy food OR paying rent?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Diapers OR transportation?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INEQUALITY is hidden in the numbers. What's not measured is not managed.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STATISTICS are not neutral. They reveal what society has decided to COUNT</a:t>
            </a:r>
            <a:r>
              <a:rPr lang="en-US" dirty="0"/>
              <a:t> </a:t>
            </a:r>
            <a:r>
              <a:rPr dirty="0"/>
              <a:t>and what it chooses to IGNORE.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Opportunity: Real Data for Real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4975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sz="2400" b="1" dirty="0"/>
              <a:t>Snipper Tool </a:t>
            </a:r>
            <a:r>
              <a:rPr dirty="0"/>
              <a:t>changes this by collecting REAL pricing data for REAL baskets: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>
                <a:solidFill>
                  <a:srgbClr val="FF0000"/>
                </a:solidFill>
              </a:rPr>
              <a:t>Real families don't buy INSEE baskets</a:t>
            </a:r>
            <a:r>
              <a:rPr dirty="0"/>
              <a:t>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They buy complete meals, dietary alternatives, baby products, and items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that support healthy, dignified family life.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By tracking ACTUAL purchases across Paris supermarkets, </a:t>
            </a:r>
            <a:r>
              <a:rPr b="1" dirty="0"/>
              <a:t>Snipper Tool </a:t>
            </a:r>
            <a:r>
              <a:rPr dirty="0"/>
              <a:t>can: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b="1" dirty="0"/>
              <a:t>Expose the gap </a:t>
            </a:r>
            <a:r>
              <a:rPr dirty="0"/>
              <a:t>between official statistics and real costs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b="1" dirty="0"/>
              <a:t>Track health-focused </a:t>
            </a:r>
            <a:r>
              <a:rPr dirty="0"/>
              <a:t>pricing decisions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b="1" dirty="0"/>
              <a:t>Identify affordability cliffs </a:t>
            </a:r>
            <a:r>
              <a:rPr dirty="0"/>
              <a:t>by income and family type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</a:t>
            </a:r>
            <a:r>
              <a:rPr b="1" dirty="0"/>
              <a:t>Provide data </a:t>
            </a:r>
            <a:r>
              <a:rPr dirty="0"/>
              <a:t>for better policy and wage decisions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4000" dirty="0"/>
              <a:t>The numbers never lie.</a:t>
            </a:r>
            <a:br>
              <a:rPr sz="4000" dirty="0"/>
            </a:br>
            <a:r>
              <a:rPr sz="4000" dirty="0"/>
              <a:t>But incomplete numbers hide the truth.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This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Dataset: 2,163 synthetic price observations (Apr 2025 - Apr 2026)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From Snipper Tool captures in Paris Auchan and Carrefour stores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Compared THREE basket types: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1. Official INSEE Minimal Basket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2. Real Complete Living Basket (includes complementary items)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3. Healthy Complete Basket (for nutritional wellness)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Against PARIS HOUSEHOLD INCOMES: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SMIC (minimum wage): 21,000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Low income: 28,000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Median: 42,000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Upper middle: 65,000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Geography: Paris region (Ile-de-France)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D76"/>
                </a:solidFill>
              </a:defRPr>
            </a:pPr>
            <a:r>
              <a:t>Complete Budget Reality: Where SMIC Families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t>All Essential Monthly Costs vs. Income</a:t>
            </a:r>
          </a:p>
        </p:txBody>
      </p:sp>
      <p:pic>
        <p:nvPicPr>
          <p:cNvPr id="4" name="Picture 3" descr="08_complete_budget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229600" cy="347226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D76"/>
                </a:solidFill>
              </a:defRPr>
            </a:pPr>
            <a:r>
              <a:t>Why This Matters: Poverty is Structural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5F4C78-349E-14EB-25E9-6E0B63F6D278}"/>
              </a:ext>
            </a:extLst>
          </p:cNvPr>
          <p:cNvSpPr txBox="1"/>
          <p:nvPr/>
        </p:nvSpPr>
        <p:spPr>
          <a:xfrm>
            <a:off x="285750" y="1104900"/>
            <a:ext cx="8401050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 b="1">
                <a:solidFill>
                  <a:srgbClr val="C80000"/>
                </a:solidFill>
              </a:defRPr>
            </a:pPr>
            <a:r>
              <a:rPr lang="en-US" sz="2400" dirty="0"/>
              <a:t>SMIC families cannot survive on SMIC income alone.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lang="en-US" sz="2400" dirty="0"/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lang="en-US" sz="2400" dirty="0"/>
              <a:t>Government transfers (CAF, housing allowance: €300-550/month) are structural survival requirement, not supplemental help.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lang="en-US" sz="2400" dirty="0"/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lang="en-US" sz="2400" dirty="0"/>
              <a:t>With transfers, SMIC families break even with no margin for: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solidFill>
                  <a:srgbClr val="646464"/>
                </a:solidFill>
              </a:defRPr>
            </a:pPr>
            <a:r>
              <a:rPr lang="en-US" sz="2400" dirty="0"/>
              <a:t>Emergencies (car repairs, medical events)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solidFill>
                  <a:srgbClr val="646464"/>
                </a:solidFill>
              </a:defRPr>
            </a:pPr>
            <a:r>
              <a:rPr lang="en-US" sz="2400" dirty="0"/>
              <a:t>Savings (impossible)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>
                <a:solidFill>
                  <a:srgbClr val="646464"/>
                </a:solidFill>
              </a:defRPr>
            </a:pPr>
            <a:r>
              <a:rPr lang="en-US" sz="2400" dirty="0"/>
              <a:t>Family composition changes (baby, aging parent)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lang="en-US" sz="2400" dirty="0"/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lang="en-US" sz="2400" dirty="0"/>
              <a:t>When composition changes occur (teenage child costs €3,461/year more),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 b="1">
                <a:solidFill>
                  <a:srgbClr val="C80000"/>
                </a:solidFill>
              </a:defRPr>
            </a:pPr>
            <a:r>
              <a:rPr lang="en-US" sz="2400" dirty="0"/>
              <a:t>SMIC families have NO margin to absorb the cost.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 b="1">
                <a:solidFill>
                  <a:srgbClr val="C80000"/>
                </a:solidFill>
              </a:defRPr>
            </a:pPr>
            <a:r>
              <a:rPr lang="en-US" sz="2400" dirty="0"/>
              <a:t>Result: Debt accumulation OR going without essentials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1424</Words>
  <Application>Microsoft Office PowerPoint</Application>
  <PresentationFormat>On-screen Show (4:3)</PresentationFormat>
  <Paragraphs>151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Horacio Emmanuel Fonseca</cp:lastModifiedBy>
  <cp:revision>4</cp:revision>
  <dcterms:created xsi:type="dcterms:W3CDTF">2013-01-27T09:14:16Z</dcterms:created>
  <dcterms:modified xsi:type="dcterms:W3CDTF">2026-04-28T05:57:04Z</dcterms:modified>
  <cp:category/>
</cp:coreProperties>
</file>